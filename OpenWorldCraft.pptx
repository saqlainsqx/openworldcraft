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2194560"/>
            <a:ext cx="8138160" cy="1828800"/>
          </a:xfrm>
          <a:prstGeom prst="rect">
            <a:avLst/>
          </a:prstGeom>
          <a:solidFill>
            <a:srgbClr val="120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889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0" b="1">
                <a:solidFill>
                  <a:srgbClr val="FF55CC"/>
                </a:solidFill>
                <a:latin typeface="Consolas"/>
              </a:rPr>
              <a:t>OpenWorldCraft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77639"/>
            <a:ext cx="12188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C8A8D8"/>
                </a:solidFill>
                <a:latin typeface="Calibri"/>
              </a:rPr>
              <a:t>An alien bioluminescent voxel world rendered in WebGL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23363" y="4663440"/>
            <a:ext cx="1417320" cy="365760"/>
          </a:xfrm>
          <a:prstGeom prst="rect">
            <a:avLst/>
          </a:prstGeom>
          <a:solidFill>
            <a:srgbClr val="1A072C"/>
          </a:solidFill>
          <a:ln w="6350">
            <a:solidFill>
              <a:srgbClr val="45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3363" y="46634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WebGL 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5275" y="4663440"/>
            <a:ext cx="1417320" cy="365760"/>
          </a:xfrm>
          <a:prstGeom prst="rect">
            <a:avLst/>
          </a:prstGeom>
          <a:solidFill>
            <a:srgbClr val="1A072C"/>
          </a:solidFill>
          <a:ln w="6350">
            <a:solidFill>
              <a:srgbClr val="45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5275" y="46634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GLSL 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7187" y="4663440"/>
            <a:ext cx="1417320" cy="365760"/>
          </a:xfrm>
          <a:prstGeom prst="rect">
            <a:avLst/>
          </a:prstGeom>
          <a:solidFill>
            <a:srgbClr val="1A072C"/>
          </a:solidFill>
          <a:ln w="6350">
            <a:solidFill>
              <a:srgbClr val="45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87187" y="46634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Vanilla JS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69099" y="4663440"/>
            <a:ext cx="1417320" cy="365760"/>
          </a:xfrm>
          <a:prstGeom prst="rect">
            <a:avLst/>
          </a:prstGeom>
          <a:solidFill>
            <a:srgbClr val="1A072C"/>
          </a:solidFill>
          <a:ln w="6350">
            <a:solidFill>
              <a:srgbClr val="45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9099" y="46634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Web Workers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51011" y="4663440"/>
            <a:ext cx="1417320" cy="365760"/>
          </a:xfrm>
          <a:prstGeom prst="rect">
            <a:avLst/>
          </a:prstGeom>
          <a:solidFill>
            <a:srgbClr val="1A072C"/>
          </a:solidFill>
          <a:ln w="6350">
            <a:solidFill>
              <a:srgbClr val="45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51011" y="46634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NumPy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D266"/>
                </a:solidFill>
                <a:latin typeface="Consolas"/>
              </a:rPr>
              <a:t>Computer Graphics · 7th-Semester Elective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github.com/SaqlainSQX/OpenWorldCraft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55CC"/>
                </a:solidFill>
                <a:latin typeface="Consola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8A8D8"/>
                </a:solidFill>
                <a:latin typeface="Calibri"/>
              </a:rPr>
              <a:t>WebGL voxel sandbox extended into a CG-rich rendering stack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1270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02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OpenWorldCraft  ·  CG semester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3749039" cy="457200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55CC"/>
                </a:solidFill>
                <a:latin typeface="Consolas"/>
              </a:rPr>
              <a:t>GOAL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468880"/>
            <a:ext cx="1188720" cy="0"/>
          </a:xfrm>
          <a:prstGeom prst="line">
            <a:avLst/>
          </a:prstGeom>
          <a:ln w="19050">
            <a:solidFill>
              <a:srgbClr val="FF5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606040"/>
            <a:ext cx="3200399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Build a serious real-time rendering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stack on top of a voxel sandbox.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Theme it as an alien bioluminescent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planet — visually distinct from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Minecraft from the first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39" y="1691640"/>
            <a:ext cx="3749039" cy="457200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196596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5E8C4"/>
                </a:solidFill>
                <a:latin typeface="Consolas"/>
              </a:rPr>
              <a:t>APPROACH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9159" y="2468880"/>
            <a:ext cx="1188720" cy="0"/>
          </a:xfrm>
          <a:prstGeom prst="line">
            <a:avLst/>
          </a:prstGeom>
          <a:ln w="1905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09159" y="2606040"/>
            <a:ext cx="3200399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Forked guckstift/voxel-game-js as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the base engine.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Extended the rendering pipeline with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shadow mapping, point lights, post-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processing, volumetric god rays,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Gerstner-wave water, and an ML-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driven hostile mob.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58" y="1691640"/>
            <a:ext cx="3749039" cy="457200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78" y="196596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5FD4FF"/>
                </a:solidFill>
                <a:latin typeface="Consolas"/>
              </a:rPr>
              <a:t>SCOPE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41078" y="2468880"/>
            <a:ext cx="1188720" cy="0"/>
          </a:xfrm>
          <a:prstGeom prst="line">
            <a:avLst/>
          </a:prstGeom>
          <a:ln w="19050">
            <a:solidFill>
              <a:srgbClr val="5F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41078" y="2606040"/>
            <a:ext cx="3200399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Pure WebGL 1.0 + GLSL ES 1.0.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Vanilla JavaScript — no framework,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no bundler, no build step.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Classic Web Worker for chunk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meshing.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NumPy for offline ML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55CC"/>
                </a:solidFill>
                <a:latin typeface="Consolas"/>
              </a:rPr>
              <a:t>Feature Showreel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8A8D8"/>
                </a:solidFill>
                <a:latin typeface="Calibri"/>
              </a:rPr>
              <a:t>Sixteen subsystems that ship in the build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1270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03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OpenWorldCraft  ·  CG semester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600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18488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Shadow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Orthographic sun + 1024² depth FBO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508760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600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618488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Point lights ×8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011680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Emissive blocks → uniform pack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508760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600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618488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Player flashlight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011680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Cone spotlight, toggle with 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508760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600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618488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Volumetric god rays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011680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Per-fragment shadow raymarch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807208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28986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2916936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Atmospheric fog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3310128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Exponential, blends to sky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2807208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28986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2916936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Gerstner-wave water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7872" y="3310128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Fresnel + sun specular + waves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807208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8986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916936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Bloom + ACES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3310128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Half-res ping-pong + tone map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2807208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53728" y="28986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916936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Underwater FX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8592" y="3310128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UV ripple + teal tint 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105656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419709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215384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Drowning vignette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4608576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Pulsing red ring closes 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4105656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93008" y="419709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4215384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Procedural sky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47872" y="4608576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Stars, twin moons, gradient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105656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73368" y="419709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4215384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3D-noise caves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8232" y="4608576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Wide caverns + thin tunnels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4105656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53728" y="419709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4215384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Surface formations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08592" y="4608576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Region-gated outcrops, hollowed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5404104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" y="5495544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5513832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Hostile mob + ML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" y="5907024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A* + behavior tree + 3-8-8-3 MLP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83280" y="5404104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93008" y="5495544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60" y="5513832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Bow + arrows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47872" y="5907024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Charged HUD, one-shot lethal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5404104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5495544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03720" y="5513832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Player water flow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28232" y="5907024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4-level fade gradient, 7.5 Hz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0" y="5404104"/>
            <a:ext cx="2788920" cy="1207008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53728" y="5495544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5CC"/>
                </a:solidFill>
                <a:latin typeface="Consolas"/>
              </a:rPr>
              <a:t>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84080" y="5513832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E4F8"/>
                </a:solidFill>
                <a:latin typeface="Calibri"/>
              </a:rPr>
              <a:t>Block-break dust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08592" y="5907024"/>
            <a:ext cx="2514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16 colour-matched particles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55CC"/>
                </a:solidFill>
                <a:latin typeface="Consolas"/>
              </a:rPr>
              <a:t>Rendering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8A8D8"/>
                </a:solidFill>
                <a:latin typeface="Calibri"/>
              </a:rPr>
              <a:t>Five GPU stages, every frame, every pixel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1270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04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OpenWorldCraft  ·  CG semester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2871" y="2560320"/>
            <a:ext cx="2011680" cy="1417320"/>
          </a:xfrm>
          <a:prstGeom prst="rect">
            <a:avLst/>
          </a:prstGeom>
          <a:solidFill>
            <a:srgbClr val="1A072C"/>
          </a:solidFill>
          <a:ln w="1905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2871" y="27249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55CC"/>
                </a:solidFill>
                <a:latin typeface="Consolas"/>
              </a:rPr>
              <a:t>1. Shadow pass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8631.0" y="3163824"/>
            <a:ext cx="1280160.0" cy="0"/>
          </a:xfrm>
          <a:prstGeom prst="line">
            <a:avLst/>
          </a:prstGeom>
          <a:ln w="10160">
            <a:solidFill>
              <a:srgbClr val="FF5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2871" y="327355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Light's POV →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depth texture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02839.0" y="3268980.0"/>
            <a:ext cx="210312.0" cy="0.0"/>
          </a:xfrm>
          <a:prstGeom prst="line">
            <a:avLst/>
          </a:prstGeom>
          <a:ln w="25400">
            <a:solidFill>
              <a:srgbClr val="45E8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31439" y="2560320"/>
            <a:ext cx="2011680" cy="1417320"/>
          </a:xfrm>
          <a:prstGeom prst="rect">
            <a:avLst/>
          </a:prstGeom>
          <a:solidFill>
            <a:srgbClr val="1A072C"/>
          </a:solidFill>
          <a:ln w="19050">
            <a:solidFill>
              <a:srgbClr val="45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1439" y="27249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5E8C4"/>
                </a:solidFill>
                <a:latin typeface="Consolas"/>
              </a:rPr>
              <a:t>2. Light gather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97199.0" y="3163824"/>
            <a:ext cx="1280160.0" cy="0"/>
          </a:xfrm>
          <a:prstGeom prst="line">
            <a:avLst/>
          </a:prstGeom>
          <a:ln w="1016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31439" y="327355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Top-8 emissives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+ flashlight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61407.0" y="3268980.0"/>
            <a:ext cx="210312.0" cy="0.0"/>
          </a:xfrm>
          <a:prstGeom prst="line">
            <a:avLst/>
          </a:prstGeom>
          <a:ln w="25400">
            <a:solidFill>
              <a:srgbClr val="45E8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90007" y="2560320"/>
            <a:ext cx="2011680" cy="1417320"/>
          </a:xfrm>
          <a:prstGeom prst="rect">
            <a:avLst/>
          </a:prstGeom>
          <a:solidFill>
            <a:srgbClr val="1A072C"/>
          </a:solidFill>
          <a:ln w="19050">
            <a:solidFill>
              <a:srgbClr val="5F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0007" y="27249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FD4FF"/>
                </a:solidFill>
                <a:latin typeface="Consolas"/>
              </a:rPr>
              <a:t>3. Scene FBO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55767.0" y="3163824"/>
            <a:ext cx="1280160.0" cy="0"/>
          </a:xfrm>
          <a:prstGeom prst="line">
            <a:avLst/>
          </a:prstGeom>
          <a:ln w="10160">
            <a:solidFill>
              <a:srgbClr val="5F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90007" y="327355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Sky · chunks ·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mobs · particles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19975.0" y="3268980.0"/>
            <a:ext cx="210312.0" cy="0.0"/>
          </a:xfrm>
          <a:prstGeom prst="line">
            <a:avLst/>
          </a:prstGeom>
          <a:ln w="25400">
            <a:solidFill>
              <a:srgbClr val="45E8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348575" y="2560320"/>
            <a:ext cx="2011680" cy="1417320"/>
          </a:xfrm>
          <a:prstGeom prst="rect">
            <a:avLst/>
          </a:prstGeom>
          <a:solidFill>
            <a:srgbClr val="1A072C"/>
          </a:solidFill>
          <a:ln w="19050">
            <a:solidFill>
              <a:srgbClr val="FFD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8575" y="27249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D266"/>
                </a:solidFill>
                <a:latin typeface="Consolas"/>
              </a:rPr>
              <a:t>4. Bloom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14335.0" y="3163824"/>
            <a:ext cx="1280160.0" cy="0"/>
          </a:xfrm>
          <a:prstGeom prst="line">
            <a:avLst/>
          </a:prstGeom>
          <a:ln w="10160">
            <a:solidFill>
              <a:srgbClr val="FFD2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48575" y="327355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Bright pass +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ping-pong blur ×2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78543.0" y="3268980.0"/>
            <a:ext cx="210312.0" cy="0.0"/>
          </a:xfrm>
          <a:prstGeom prst="line">
            <a:avLst/>
          </a:prstGeom>
          <a:ln w="25400">
            <a:solidFill>
              <a:srgbClr val="45E8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607143" y="2560320"/>
            <a:ext cx="2011680" cy="1417320"/>
          </a:xfrm>
          <a:prstGeom prst="rect">
            <a:avLst/>
          </a:prstGeom>
          <a:solidFill>
            <a:srgbClr val="1A072C"/>
          </a:solidFill>
          <a:ln w="1905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7143" y="27249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55CC"/>
                </a:solidFill>
                <a:latin typeface="Consolas"/>
              </a:rPr>
              <a:t>5. ACES composite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72903.0" y="3163824"/>
            <a:ext cx="1280160.0" cy="0"/>
          </a:xfrm>
          <a:prstGeom prst="line">
            <a:avLst/>
          </a:prstGeom>
          <a:ln w="10160">
            <a:solidFill>
              <a:srgbClr val="FF5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607143" y="327355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Tone map + UW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+ drowning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754880"/>
            <a:ext cx="11155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All offscreen buffers are RGBA8 (LDR). Bright surfaces saturate near 1.0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so the bright pass still captures emissive blocks for bloom.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Underwater + drowning effects piggy-back on the composite shader,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so they cost a single extra branch per screen pixel.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55CC"/>
                </a:solidFill>
                <a:latin typeface="Consolas"/>
              </a:rPr>
              <a:t>Shaders — Shadow Mapping + God Rays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8A8D8"/>
                </a:solidFill>
                <a:latin typeface="Calibri"/>
              </a:rPr>
              <a:t>Two cooperating GLSL passes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1270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05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OpenWorldCraft  ·  CG semester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029200" cy="475488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55CC"/>
                </a:solidFill>
                <a:latin typeface="Consolas"/>
              </a:rPr>
              <a:t>SHADOW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>Orthographic projection from the sun's POV into a 1024² depth-only FBO via the WEBGL_depth_texture extension.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>The light-VP follows the player so the shadow frustum stays around the camera. A single shadow lookup with 0.004 bias; out-of-range fragments default to fully lit so there's no darkening at the shadow-map edge.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5E8C4"/>
                </a:solidFill>
                <a:latin typeface="Consolas"/>
              </a:rPr>
              <a:t>GOD-RAY RAYMARCH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>Per-fragment screen-space raymarch from camera → fragment, 4 samples in light space. Lit steps accumulate into a [0,1] factor, modulated by pow(dot(viewDir, sunDir), 3.0) so god rays only show when looking toward the sun.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554480"/>
            <a:ext cx="5943600" cy="4754880"/>
          </a:xfrm>
          <a:prstGeom prst="rect">
            <a:avLst/>
          </a:prstGeom>
          <a:solidFill>
            <a:srgbClr val="10051A"/>
          </a:solidFill>
          <a:ln w="1270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1719072"/>
            <a:ext cx="5614416" cy="4425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float sampleShadow() {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if (shadowEnabled &lt; 0.5) return 1.0;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vec3 sc = vLightPos.xyz / vLightPos.w * 0.5 + 0.5;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if (sc.x &lt; 0.0 || sc.x &gt; 1.0 ||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    sc.y &lt; 0.0 || sc.y &gt; 1.0 || sc.z &gt; 1.0)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    return 1.0;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float stored = texture2D(shadowMap, sc.xy).r;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return sc.z - 0.004 &gt; stored ? 0.12 : 1.0;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}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// god-ray accumulation, 4 steps: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vec3 stepv = (vWorldPos - uCameraPos) / 4.0;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vec3 p     = uCameraPos + stepv * 0.5;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float lit  = 0.0;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for (int i = 0; i &lt; 4; i++) {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vec4 lp = lightVP * vec4(p, 1.0);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vec3 sc = lp.xyz / lp.w * 0.5 + 0.5;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if (sc in [0..1] &amp;&amp; sc.z &lt;= sampled+ε)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    lit += 1.0;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p += stepv;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}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return (lit / 4.0) * pow(sunAlign, 3.0);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55CC"/>
                </a:solidFill>
                <a:latin typeface="Consolas"/>
              </a:rPr>
              <a:t>Shaders — Water + Post-Processing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8A8D8"/>
                </a:solidFill>
                <a:latin typeface="Calibri"/>
              </a:rPr>
              <a:t>Per-fragment Gerstner waves and ACES tone-map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1270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06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OpenWorldCraft  ·  CG semester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486400" cy="475488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5E8C4"/>
                </a:solidFill>
                <a:latin typeface="Consolas"/>
              </a:rPr>
              <a:t>GERSTNER-WAVE WATER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>Fragment-only normals — no vertex displacement — so greedy-meshed acid surfaces still ripple. Two summed sin waves whose gradient tilts the surface normal each pixel. Fresnel mixes deep-teal with magenta sky reflection; Blinn-Phong specular toward the sun adds a sharp glint.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160520"/>
            <a:ext cx="4937760" cy="2011680"/>
          </a:xfrm>
          <a:prstGeom prst="rect">
            <a:avLst/>
          </a:prstGeom>
          <a:solidFill>
            <a:srgbClr val="10051A"/>
          </a:solidFill>
          <a:ln w="1270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325112"/>
            <a:ext cx="4608576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vec3 waterNormal(vec2 xy, float t) {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vec2 d1 = vec2( 1.0, 0.3); float f1=0.70, a1=0.12;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vec2 d2 = vec2(-0.4, 0.8); float f2=1.10, a2=0.07;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float p1 = dot(d1,xy)*f1 + t*2.0;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float p2 = dot(d2,xy)*f2 + t*1.5;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vec2 slope = cos(p1)*d1*f1*a1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         + cos(p2)*d2*f2*a2;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return normalize(vec3(-slope.x,-slope.y,1.0));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554480"/>
            <a:ext cx="5440680" cy="475488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D266"/>
                </a:solidFill>
                <a:latin typeface="Consolas"/>
              </a:rPr>
              <a:t>BLOOM + ACES TONE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4028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>Render scene → bright pass at half-res with smoothstep knee → 2× ping-pong Gaussian blur (9-tap, σ≈2) → composite with ACES filmic to backbuffer.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>Underwater + drowning vignette ride on the composite pass.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160520"/>
            <a:ext cx="4937760" cy="2011680"/>
          </a:xfrm>
          <a:prstGeom prst="rect">
            <a:avLst/>
          </a:prstGeom>
          <a:solidFill>
            <a:srgbClr val="10051A"/>
          </a:solidFill>
          <a:ln w="1270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4325112"/>
            <a:ext cx="4608576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vec3 aces(vec3 x) {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return clamp(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(x*(2.51*x + 0.03)) /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(x*(2.43*x + 0.59) + 0.14),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    0.0, 1.0);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}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vec3 hdr = (scene + bloom*0.30) * 1.05;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45E8C4"/>
                </a:solidFill>
                <a:latin typeface="Consolas"/>
              </a:rPr>
              <a:t>gl_FragColor = vec4(aces(hdr), 1.0);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55CC"/>
                </a:solidFill>
                <a:latin typeface="Consolas"/>
              </a:rPr>
              <a:t>Point Lights &amp; Player Flashlight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8A8D8"/>
                </a:solidFill>
                <a:latin typeface="Calibri"/>
              </a:rPr>
              <a:t>Eight emissive sources + a directed cone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1270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07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OpenWorldCraft  ·  CG semester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6217920" cy="475488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5E8C4"/>
                </a:solidFill>
                <a:latin typeface="Consolas"/>
              </a:rPr>
              <a:t>LightManager pipeline (8-slot)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77440"/>
            <a:ext cx="1828800" cy="914400"/>
          </a:xfrm>
          <a:prstGeom prst="rect">
            <a:avLst/>
          </a:prstGeom>
          <a:solidFill>
            <a:srgbClr val="1A072C"/>
          </a:solidFill>
          <a:ln w="1270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237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6E4F8"/>
                </a:solidFill>
                <a:latin typeface="Consolas"/>
              </a:rPr>
              <a:t>walk chunks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34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collect emissive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voxels exposed to air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2834640"/>
            <a:ext cx="320040" cy="0"/>
          </a:xfrm>
          <a:prstGeom prst="line">
            <a:avLst/>
          </a:prstGeom>
          <a:ln w="25400">
            <a:solidFill>
              <a:srgbClr val="45E8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926080" y="2377440"/>
            <a:ext cx="1554480" cy="914400"/>
          </a:xfrm>
          <a:prstGeom prst="rect">
            <a:avLst/>
          </a:prstGeom>
          <a:solidFill>
            <a:srgbClr val="1A072C"/>
          </a:solidFill>
          <a:ln w="1270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52374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6E4F8"/>
                </a:solidFill>
                <a:latin typeface="Consolas"/>
              </a:rPr>
              <a:t>partial 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8346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by distance²,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keep closest 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80560" y="2834640"/>
            <a:ext cx="320040" cy="0"/>
          </a:xfrm>
          <a:prstGeom prst="line">
            <a:avLst/>
          </a:prstGeom>
          <a:ln w="25400">
            <a:solidFill>
              <a:srgbClr val="45E8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800600" y="2377440"/>
            <a:ext cx="1783080" cy="914400"/>
          </a:xfrm>
          <a:prstGeom prst="rect">
            <a:avLst/>
          </a:prstGeom>
          <a:solidFill>
            <a:srgbClr val="1A072C"/>
          </a:solidFill>
          <a:ln w="1270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252374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6E4F8"/>
                </a:solidFill>
                <a:latin typeface="Consolas"/>
              </a:rPr>
              <a:t>uniform pack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8346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Float32Array(24)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C8A8D8"/>
                </a:solidFill>
                <a:latin typeface="Calibri"/>
              </a:rPr>
              <a:t>uploaded once / frame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520440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>Per-block-id colour table — crystal cyan, fungus magenta, glow_leaves teal, acid green, glowmoss aqua. Falloff: 1 / (1 + 0.18·d + 0.035·d²).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>Chunk shader sums all 8 lights inside a single loop, gated on a brightness check so empty slots cost ~nothing.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1554480"/>
            <a:ext cx="4800600" cy="475488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1783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D266"/>
                </a:solidFill>
                <a:latin typeface="Consolas"/>
              </a:rPr>
              <a:t>PLAYER FLASHLIGHT (F)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240280"/>
            <a:ext cx="4297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>Cone spotlight sharing the LightManager's uniform path. Direction = camera lookat. Half-angle 39°, range 28 blocks. Smoothstep falloff between cone-cosine and 1.0 keeps the beam edge soft.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4160520"/>
            <a:ext cx="4297680" cy="2011680"/>
          </a:xfrm>
          <a:prstGeom prst="rect">
            <a:avLst/>
          </a:prstGeom>
          <a:solidFill>
            <a:srgbClr val="10051A"/>
          </a:solidFill>
          <a:ln w="1270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2632" y="4325112"/>
            <a:ext cx="3968496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float align = -dot(Ldir, uFlashDir);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if (align &lt; uFlashConeCos)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    return vec3(0.0);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float cone = smoothstep(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    uFlashConeCos, 1.0, align);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float att = 1.0 / (1.0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    + 0.05 * d + 0.012 * d * d);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return uFlashColor * cone * att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     * max(0.0, dot(Ldir, vNormal));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55CC"/>
                </a:solidFill>
                <a:latin typeface="Consolas"/>
              </a:rPr>
              <a:t>Terrain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8A8D8"/>
                </a:solidFill>
                <a:latin typeface="Calibri"/>
              </a:rPr>
              <a:t>Heightmap + 3D-noise caves + above-ground rock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1270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08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OpenWorldCraft  ·  CG semester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486400" cy="228600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55CC"/>
                </a:solidFill>
                <a:latin typeface="Consolas"/>
              </a:rPr>
              <a:t>HEIGHTMAP + ACID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>Single 16×16-cell smooth-noise field. Surface heights land in [28, 44], so every column has 28+ blocks of solid material under it. Acid fills any depression below z=32. Trees are a per-chunk noise threshold (&gt;0.955), refused on glowmoss / sub-acid columns.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5E8C4"/>
                </a:solidFill>
                <a:latin typeface="Consolas"/>
              </a:rPr>
              <a:t>CAVES (3D-NOISE CARVING)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>Two stacked noise thresholds — wide caverns + thin tunnels — ORed so the systems connect.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246120"/>
            <a:ext cx="4937760" cy="2926080"/>
          </a:xfrm>
          <a:prstGeom prst="rect">
            <a:avLst/>
          </a:prstGeom>
          <a:solidFill>
            <a:srgbClr val="10051A"/>
          </a:solidFill>
          <a:ln w="1270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3410712"/>
            <a:ext cx="4608576" cy="2596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5E8C4"/>
                </a:solidFill>
                <a:latin typeface="Consolas"/>
              </a:rPr>
              <a:t>isCave(x, y, z, height) {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45E8C4"/>
                </a:solidFill>
                <a:latin typeface="Consolas"/>
              </a:rPr>
              <a:t>  if (z &lt; 4)              return false;  // bedrock floor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45E8C4"/>
                </a:solidFill>
                <a:latin typeface="Consolas"/>
              </a:rPr>
              <a:t>  if (z &gt;= height - 2)    return false;  // surface buffer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45E8C4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45E8C4"/>
                </a:solidFill>
                <a:latin typeface="Consolas"/>
              </a:rPr>
              <a:t>  let cavern = sample3d(x/16, y/16, z/8);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45E8C4"/>
                </a:solidFill>
                <a:latin typeface="Consolas"/>
              </a:rPr>
              <a:t>  if (cavern &gt; 0.74) return true;        // wide chamber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45E8C4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45E8C4"/>
                </a:solidFill>
                <a:latin typeface="Consolas"/>
              </a:rPr>
              <a:t>  let tunnel = sample3d(x/9 + 51,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45E8C4"/>
                </a:solidFill>
                <a:latin typeface="Consolas"/>
              </a:rPr>
              <a:t>                        y/9 + 23,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45E8C4"/>
                </a:solidFill>
                <a:latin typeface="Consolas"/>
              </a:rPr>
              <a:t>                        z/5 + 7);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45E8C4"/>
                </a:solidFill>
                <a:latin typeface="Consolas"/>
              </a:rPr>
              <a:t>  return tunnel &gt; 0.78;                  // thin tunnel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45E8C4"/>
                </a:solidFill>
                <a:latin typeface="Consolas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1920"/>
            <a:ext cx="5486400" cy="237744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FD4FF"/>
                </a:solidFill>
                <a:latin typeface="Consolas"/>
              </a:rPr>
              <a:t>ABOVE-GROUND ROCK FORMATIONS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C8A8D8"/>
                </a:solidFill>
                <a:latin typeface="Calibri"/>
              </a:rPr>
              <a:t>Region-gated 2D mask gives sparse outcrop locations. Inside a region, a 3D blob mask picks rock-vs-air voxel by voxel; threshold rises with altitude so blobs taper to a peak. Same tunnel noise hollows them — the result is natural arches and walk-in surface caves.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55CC"/>
                </a:solidFill>
                <a:latin typeface="Consolas"/>
              </a:rPr>
              <a:t>Hostile Mob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8A8D8"/>
                </a:solidFill>
                <a:latin typeface="Calibri"/>
              </a:rPr>
              <a:t>A* navigation + behavior tree + skeletal animation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1270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09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OpenWorldCraft  ·  CG semester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91640"/>
            <a:ext cx="5394960" cy="219456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55CC"/>
                </a:solidFill>
                <a:latin typeface="Consolas"/>
              </a:rPr>
              <a:t>6-BONE QUADRUPED RIG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3172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         (head)─bone 1                bone 2─(tail)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             │                            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         ┌───┴───── BODY  (static, bone 0) ─────┴───┐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         │                                          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        FL leg     FR leg     BL leg     BR leg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        bone 3     bone 4     bone 5     bone 6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          │          │          │          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        diagonal trot:  FL+BR  ⇄  FR+BL   (π apart)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06240"/>
            <a:ext cx="3749039" cy="210312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7083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55CC"/>
                </a:solidFill>
                <a:latin typeface="Consolas"/>
              </a:rPr>
              <a:t>A* 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00600"/>
            <a:ext cx="3383279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groundZ() finds walkable cells: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  solid floor + 3-block air column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  + no fluid in feet/body/head.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findPath() does 4-connected XY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A* with a 180-node budget; replans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every 0.8s in combat, 2.5–5s on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patrol.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399" y="4206240"/>
            <a:ext cx="3749039" cy="210312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437083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5E8C4"/>
                </a:solidFill>
                <a:latin typeface="Consolas"/>
              </a:rPr>
              <a:t>BEHAVIOR TREE FSM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4800600"/>
            <a:ext cx="3383279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States:  IDLE  PATROL  CHASE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         ATTACK FLEE  DEAD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Transitions chosen by an MLP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policy each frame, with a tabular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fallback if the JSON fails to load.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ATTACK_RANGE 2.2 · AGGRO 22.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8" y="4206240"/>
            <a:ext cx="3749039" cy="210312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8" y="437083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FD4FF"/>
                </a:solidFill>
                <a:latin typeface="Consolas"/>
              </a:rPr>
              <a:t>DISSOLVE DEATH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8" y="4800600"/>
            <a:ext cx="3383279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On HP=0 the FSM freezes at DEAD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and the model shader's uDissolve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ramps 0→1 over ~1.7s.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3D hash mask discard with a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smoothstep edge band that glows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8A8D8"/>
                </a:solidFill>
                <a:latin typeface="Calibri"/>
              </a:rPr>
              <a:t>bright pink at the dissolve front.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55CC"/>
                </a:solidFill>
                <a:latin typeface="Consolas"/>
              </a:rPr>
              <a:t>ML Decision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8A8D8"/>
                </a:solidFill>
                <a:latin typeface="Calibri"/>
              </a:rPr>
              <a:t>A 3 → 8 → 8 → 3 MLP trained offline, run per-frame in JS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1270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10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OpenWorldCraft  ·  CG semester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935327" y="1828800"/>
            <a:ext cx="1371600" cy="2468880"/>
          </a:xfrm>
          <a:prstGeom prst="rect">
            <a:avLst/>
          </a:prstGeom>
          <a:solidFill>
            <a:srgbClr val="1A072C"/>
          </a:solidFill>
          <a:ln w="1905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5327" y="2011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55CC"/>
                </a:solidFill>
                <a:latin typeface="Consola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5327" y="2331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(3)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5327" y="27432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dist_norm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hp_ratio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hit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43503.0" y="3063240.0"/>
            <a:ext cx="292608.0" cy="0.0"/>
          </a:xfrm>
          <a:prstGeom prst="line">
            <a:avLst/>
          </a:prstGeom>
          <a:ln w="25400">
            <a:solidFill>
              <a:srgbClr val="FF55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72687" y="1828800"/>
            <a:ext cx="1371600" cy="2468880"/>
          </a:xfrm>
          <a:prstGeom prst="rect">
            <a:avLst/>
          </a:prstGeom>
          <a:solidFill>
            <a:srgbClr val="1A072C"/>
          </a:solidFill>
          <a:ln w="19050">
            <a:solidFill>
              <a:srgbClr val="45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2687" y="2011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5E8C4"/>
                </a:solidFill>
                <a:latin typeface="Consolas"/>
              </a:rPr>
              <a:t>DENSE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687" y="2331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ReLU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2687" y="27432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w₁ · X + b₁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ReLU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80863.0" y="3063240.0"/>
            <a:ext cx="292608.0" cy="0.0"/>
          </a:xfrm>
          <a:prstGeom prst="line">
            <a:avLst/>
          </a:prstGeom>
          <a:ln w="25400">
            <a:solidFill>
              <a:srgbClr val="FF55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10047" y="1828800"/>
            <a:ext cx="1371600" cy="2468880"/>
          </a:xfrm>
          <a:prstGeom prst="rect">
            <a:avLst/>
          </a:prstGeom>
          <a:solidFill>
            <a:srgbClr val="1A072C"/>
          </a:solidFill>
          <a:ln w="19050">
            <a:solidFill>
              <a:srgbClr val="45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0047" y="2011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5E8C4"/>
                </a:solidFill>
                <a:latin typeface="Consolas"/>
              </a:rPr>
              <a:t>DENSE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0047" y="2331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ReLU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0047" y="27432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w₂ · h₁ + b₂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ReLU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18223.0" y="3063240.0"/>
            <a:ext cx="292608.0" cy="0.0"/>
          </a:xfrm>
          <a:prstGeom prst="line">
            <a:avLst/>
          </a:prstGeom>
          <a:ln w="25400">
            <a:solidFill>
              <a:srgbClr val="FF55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147407" y="1828800"/>
            <a:ext cx="1371600" cy="2468880"/>
          </a:xfrm>
          <a:prstGeom prst="rect">
            <a:avLst/>
          </a:prstGeom>
          <a:solidFill>
            <a:srgbClr val="1A072C"/>
          </a:solidFill>
          <a:ln w="19050">
            <a:solidFill>
              <a:srgbClr val="5F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47407" y="2011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FD4FF"/>
                </a:solidFill>
                <a:latin typeface="Consolas"/>
              </a:rPr>
              <a:t>DENSE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7407" y="2331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Soft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7407" y="27432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w₃ · h₂ + b₃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softmax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55583.0" y="3063240.0"/>
            <a:ext cx="292608.0" cy="0.0"/>
          </a:xfrm>
          <a:prstGeom prst="line">
            <a:avLst/>
          </a:prstGeom>
          <a:ln w="25400">
            <a:solidFill>
              <a:srgbClr val="FF55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884767" y="1828800"/>
            <a:ext cx="1371600" cy="2468880"/>
          </a:xfrm>
          <a:prstGeom prst="rect">
            <a:avLst/>
          </a:prstGeom>
          <a:solidFill>
            <a:srgbClr val="1A072C"/>
          </a:solidFill>
          <a:ln w="19050">
            <a:solidFill>
              <a:srgbClr val="FFD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4767" y="2011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D266"/>
                </a:solidFill>
                <a:latin typeface="Consolas"/>
              </a:rP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4767" y="2331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(3)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4767" y="27432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chase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flee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attack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17720"/>
            <a:ext cx="3749039" cy="178308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4727448"/>
            <a:ext cx="3419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5CC"/>
                </a:solidFill>
                <a:latin typeface="Consolas"/>
              </a:rPr>
              <a:t>TRAINING (Python · NumPy)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5120640"/>
            <a:ext cx="341985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8000 synthetic samples generated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from a hand-crafted heuristic with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bounded random noise.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600 epochs · batch 128 · lr 0.08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Reaches ~97% val accuracy in ~1 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399" y="4617720"/>
            <a:ext cx="3749039" cy="178308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7991" y="4727448"/>
            <a:ext cx="3419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5E8C4"/>
                </a:solidFill>
                <a:latin typeface="Consolas"/>
              </a:rPr>
              <a:t>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7991" y="5120640"/>
            <a:ext cx="341985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Layer matrices written as [out, in]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row-major in mob_policy.json.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JS forward pass iterates rows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contiguously for cache locality.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~2 KB on disk.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8" y="4617720"/>
            <a:ext cx="3749039" cy="178308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0" y="4727448"/>
            <a:ext cx="3419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FD4FF"/>
                </a:solidFill>
                <a:latin typeface="Consolas"/>
              </a:rPr>
              <a:t>RUNTIME (JS · per frame)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0" y="5120640"/>
            <a:ext cx="341985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Per-frame forward pass returns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argmax action; FSM uses it as a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CHASE/FLEE/ATTACK bias.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Safety transitions (HP=0 → DEAD)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8A8D8"/>
                </a:solidFill>
                <a:latin typeface="Calibri"/>
              </a:rPr>
              <a:t>always override.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55CC"/>
                </a:solidFill>
                <a:latin typeface="Consolas"/>
              </a:rPr>
              <a:t>Gameplay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8A8D8"/>
                </a:solidFill>
                <a:latin typeface="Calibri"/>
              </a:rPr>
              <a:t>Three player-facing mechanics with explicit formulas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1270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11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OpenWorldCraft  ·  CG semester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3749039" cy="466344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5623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55CC"/>
                </a:solidFill>
                <a:latin typeface="Consolas"/>
              </a:rPr>
              <a:t>FALL DAMAGE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286000"/>
            <a:ext cx="1188720" cy="0"/>
          </a:xfrm>
          <a:prstGeom prst="line">
            <a:avLst/>
          </a:prstGeom>
          <a:ln w="19050">
            <a:solidFill>
              <a:srgbClr val="FF5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85800" y="2468880"/>
            <a:ext cx="3383279" cy="960120"/>
          </a:xfrm>
          <a:prstGeom prst="rect">
            <a:avLst/>
          </a:prstGeom>
          <a:solidFill>
            <a:srgbClr val="10051A"/>
          </a:solidFill>
          <a:ln w="635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68880"/>
            <a:ext cx="338327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55CC"/>
                </a:solidFill>
                <a:latin typeface="Consolas"/>
              </a:rPr>
              <a:t>damage = max(0,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55CC"/>
                </a:solidFill>
                <a:latin typeface="Consolas"/>
              </a:rPr>
              <a:t>  1 + ⌊(peak.z − landing.z − 4) / 2⌋)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3383279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4–5 blocks  →  1 ♥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6–7 blocks  →  2 ♥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8–9 blocks  →  3 ♥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…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Spawn-fall and respawn-fall exempt.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Falling into acid resets the peak,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so water cushions the impact.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399" y="1691640"/>
            <a:ext cx="3749039" cy="466344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185623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5E8C4"/>
                </a:solidFill>
                <a:latin typeface="Consolas"/>
              </a:rPr>
              <a:t>DROWNING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79" y="2286000"/>
            <a:ext cx="1188720" cy="0"/>
          </a:xfrm>
          <a:prstGeom prst="line">
            <a:avLst/>
          </a:prstGeom>
          <a:ln w="1905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26279" y="2468880"/>
            <a:ext cx="3383279" cy="960120"/>
          </a:xfrm>
          <a:prstGeom prst="rect">
            <a:avLst/>
          </a:prstGeom>
          <a:solidFill>
            <a:srgbClr val="10051A"/>
          </a:solidFill>
          <a:ln w="6350">
            <a:solidFill>
              <a:srgbClr val="45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2468880"/>
            <a:ext cx="338327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45E8C4"/>
                </a:solidFill>
                <a:latin typeface="Consolas"/>
              </a:rPr>
              <a:t>10 s grace, then 1 ♥ every 3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3611880"/>
            <a:ext cx="3383279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Pulsing red vignette ramps in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from ~6 s as a warning.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Surfacing instantly resets both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the submerged timer and the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damage accumulator — quick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dips are free.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8" y="1691640"/>
            <a:ext cx="3749039" cy="466344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8" y="185623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FD4FF"/>
                </a:solidFill>
                <a:latin typeface="Consolas"/>
              </a:rPr>
              <a:t>BOW + ARROWS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66758" y="2286000"/>
            <a:ext cx="1188720" cy="0"/>
          </a:xfrm>
          <a:prstGeom prst="line">
            <a:avLst/>
          </a:prstGeom>
          <a:ln w="19050">
            <a:solidFill>
              <a:srgbClr val="5F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366758" y="2468880"/>
            <a:ext cx="3383279" cy="960120"/>
          </a:xfrm>
          <a:prstGeom prst="rect">
            <a:avLst/>
          </a:prstGeom>
          <a:solidFill>
            <a:srgbClr val="10051A"/>
          </a:solidFill>
          <a:ln w="6350">
            <a:solidFill>
              <a:srgbClr val="5F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58" y="2468880"/>
            <a:ext cx="338327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FD4FF"/>
                </a:solidFill>
                <a:latin typeface="Consolas"/>
              </a:rPr>
              <a:t>v = lookat × (18 + charge × 24)  m/s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8" y="3611880"/>
            <a:ext cx="3383279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0.7 s to fully charge by holding E.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Bow HUD canvas animates string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pulling back, colour shifts to gold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at full draw.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5 substeps per frame for tunneling-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free hits.  Mob touch → one-shot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A8D8"/>
                </a:solidFill>
                <a:latin typeface="Calibri"/>
              </a:rPr>
              <a:t>lethal.  Wall hit → embed for 2 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55CC"/>
                </a:solidFill>
                <a:latin typeface="Consolas"/>
              </a:rPr>
              <a:t>Player-Placed Water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8A8D8"/>
                </a:solidFill>
                <a:latin typeface="Calibri"/>
              </a:rPr>
              <a:t>Source spreads through 4 fade levels, dies out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1270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12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OpenWorldCraft  ·  CG semester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486400" cy="475488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5E8C4"/>
                </a:solidFill>
                <a:latin typeface="Consolas"/>
              </a:rPr>
              <a:t>FADE GRADIENT (top-down)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2011680"/>
            <a:ext cx="4389120" cy="4389120"/>
          </a:xfrm>
          <a:prstGeom prst="ellipse">
            <a:avLst/>
          </a:prstGeom>
          <a:solidFill>
            <a:srgbClr val="070212"/>
          </a:solidFill>
          <a:ln w="2540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2514600"/>
            <a:ext cx="3383280" cy="3383280"/>
          </a:xfrm>
          <a:prstGeom prst="ellipse">
            <a:avLst/>
          </a:prstGeom>
          <a:solidFill>
            <a:srgbClr val="070212"/>
          </a:solidFill>
          <a:ln w="25400">
            <a:solidFill>
              <a:srgbClr val="AA3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57400" y="3017520"/>
            <a:ext cx="2377440" cy="2377440"/>
          </a:xfrm>
          <a:prstGeom prst="ellipse">
            <a:avLst/>
          </a:prstGeom>
          <a:solidFill>
            <a:srgbClr val="070212"/>
          </a:solidFill>
          <a:ln w="25400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06040" y="3566160"/>
            <a:ext cx="1280160" cy="1280160"/>
          </a:xfrm>
          <a:prstGeom prst="ellipse">
            <a:avLst/>
          </a:prstGeom>
          <a:solidFill>
            <a:srgbClr val="070212"/>
          </a:solidFill>
          <a:ln w="25400">
            <a:solidFill>
              <a:srgbClr val="45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331720"/>
            <a:ext cx="182880" cy="182880"/>
          </a:xfrm>
          <a:prstGeom prst="rect">
            <a:avLst/>
          </a:prstGeom>
          <a:solidFill>
            <a:srgbClr val="45E8C4"/>
          </a:solidFill>
          <a:ln w="6350">
            <a:solidFill>
              <a:srgbClr val="45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29514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level 0 · acid (source)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651760"/>
            <a:ext cx="182880" cy="182880"/>
          </a:xfrm>
          <a:prstGeom prst="rect">
            <a:avLst/>
          </a:prstGeom>
          <a:solidFill>
            <a:srgbClr val="229080"/>
          </a:solidFill>
          <a:ln w="6350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6151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level 1 · acid_mid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182880" cy="182880"/>
          </a:xfrm>
          <a:prstGeom prst="rect">
            <a:avLst/>
          </a:prstGeom>
          <a:solidFill>
            <a:srgbClr val="AA3388"/>
          </a:solidFill>
          <a:ln w="6350">
            <a:solidFill>
              <a:srgbClr val="AA3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9352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level 2 · acid_dim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291840"/>
            <a:ext cx="182880" cy="182880"/>
          </a:xfrm>
          <a:prstGeom prst="rect">
            <a:avLst/>
          </a:prstGeom>
          <a:solidFill>
            <a:srgbClr val="FF55CC"/>
          </a:solidFill>
          <a:ln w="635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2552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8A8D8"/>
                </a:solidFill>
                <a:latin typeface="Consolas"/>
              </a:rPr>
              <a:t>level 3 · acid_trace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55CC"/>
                </a:solidFill>
                <a:latin typeface="Consolas"/>
              </a:rPr>
              <a:t>TICK ALGORITHM (7.5 Hz)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286000"/>
            <a:ext cx="4937760" cy="3931920"/>
          </a:xfrm>
          <a:prstGeom prst="rect">
            <a:avLst/>
          </a:prstGeom>
          <a:solidFill>
            <a:srgbClr val="10051A"/>
          </a:solidFill>
          <a:ln w="1270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2450592"/>
            <a:ext cx="4608576" cy="360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for each tracked fluid cell at level L: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    if  L &gt;= MAX_LEVEL: continue        // dying edge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    if  block_below is air: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        push down-flow at SAME level    // gravity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        continue                        // no horiz spread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    for each of the 4 horizontal neighbours: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        if  it's air: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            push spread at  L + 1       // capped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// apply pending updates: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// only fill if the cell isn't already a stronger source.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// chunk shader extracts a per-vertex 'fade' from the face id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// and dims color × mix(1.0, 0.55, fade)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5E8C4"/>
                </a:solidFill>
                <a:latin typeface="Consolas"/>
              </a:rPr>
              <a:t>// and alpha × mix(0.78, 0.28, fade).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55CC"/>
                </a:solidFill>
                <a:latin typeface="Consola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8A8D8"/>
                </a:solidFill>
                <a:latin typeface="Calibri"/>
              </a:rPr>
              <a:t>src/ — 28 modules, classic Web Worker for chunk meshing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1270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13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OpenWorldCraft  ·  CG semester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6858000" cy="4846320"/>
          </a:xfrm>
          <a:prstGeom prst="rect">
            <a:avLst/>
          </a:prstGeom>
          <a:solidFill>
            <a:srgbClr val="10051A"/>
          </a:solidFill>
          <a:ln w="1270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719072"/>
            <a:ext cx="6528816" cy="4517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src/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main.js               orchestration · HUDs · frame loop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display.js            WebGL context · rAF loop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camera.js             view/projection · camera physics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controller.js         input · hotbar · bow charge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body.js               AABB collision over voxel grid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map.js                chunk store · ray/box-march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chunk.js              ★ per-chunk shader (most uniforms)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mesher.js             ★ classic Worker · greedy mesher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generator.js          ★ terrain noise · cave/rock masks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shadowmap.js          orthographic light VP · depth FBO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lights.js             8-slot point pack + flashlight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postprocessor.js      bright + blur + ACES + UW + drown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particles.js          ambient swarm (100 pts, additive)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bursts.js             one-shot burst pool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sky.js                full-screen alien sky shader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model.js              ★ skinned mesh w/ tint + dissolve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bone.js · arrow.js    rig joint · projectile physics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astar.js              XY-plane A* on walkable cells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hostilemob.js         ★ behavior tree + animation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└── mob_policy.js         ★ MLP forward pass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tools/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├── gen_blocks.py         regenerate gfx/blocks.png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5E8C4"/>
                </a:solidFill>
                <a:latin typeface="Consolas"/>
              </a:rPr>
              <a:t>└── train_mob_policy.py   train + export the MLP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554480"/>
            <a:ext cx="4114800" cy="484632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7373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D266"/>
                </a:solidFill>
                <a:latin typeface="Consolas"/>
              </a:rPr>
              <a:t>★  HOT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945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5CC"/>
                </a:solidFill>
                <a:latin typeface="Consolas"/>
              </a:rPr>
              <a:t>chunk.js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871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C8A8D8"/>
                </a:solidFill>
                <a:latin typeface="Calibri"/>
              </a:rPr>
              <a:t>All shadow / point-light / flashlight / fog / god-ray / water / fade uniforms live in one shader. Single source of truth for the look.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0632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5CC"/>
                </a:solidFill>
                <a:latin typeface="Consolas"/>
              </a:rPr>
              <a:t>mesher.js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35584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C8A8D8"/>
                </a:solidFill>
                <a:latin typeface="Calibri"/>
              </a:rPr>
              <a:t>Greedy meshing on a Web Worker. Packs ambient occlusion + emissive flag into the same byte (ao + 4 means 'emissive') so the vertex stride stays at 10 floats.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9319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5CC"/>
                </a:solidFill>
                <a:latin typeface="Consolas"/>
              </a:rPr>
              <a:t>generator.js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22452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C8A8D8"/>
                </a:solidFill>
                <a:latin typeface="Calibri"/>
              </a:rPr>
              <a:t>All world rules: surface heights, acid line, biome moss, tree placement, 3D-noise caves, surface rock formations.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8006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5CC"/>
                </a:solidFill>
                <a:latin typeface="Consolas"/>
              </a:rPr>
              <a:t>hostilemob.js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509320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C8A8D8"/>
                </a:solidFill>
                <a:latin typeface="Calibri"/>
              </a:rPr>
              <a:t>FSM transitions, A* replan cadence, jump triggers, head/tail/leg animation phase coupling, dissolve timing, dispatch to the policy.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6692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5CC"/>
                </a:solidFill>
                <a:latin typeface="Consolas"/>
              </a:rPr>
              <a:t>mob_policy.js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96188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C8A8D8"/>
                </a:solidFill>
                <a:latin typeface="Calibri"/>
              </a:rPr>
              <a:t>Tiny pure-JS MLP runtime. Loads weights once, per-frame argmax.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55CC"/>
                </a:solidFill>
                <a:latin typeface="Consolas"/>
              </a:rPr>
              <a:t>Tech Stack &amp; Credits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8A8D8"/>
                </a:solidFill>
                <a:latin typeface="Calibri"/>
              </a:rPr>
              <a:t>Everything used to build OpenWorldCraft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12700">
            <a:solidFill>
              <a:srgbClr val="45E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14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86A8"/>
                </a:solidFill>
                <a:latin typeface="Consolas"/>
              </a:rPr>
              <a:t>OpenWorldCraft  ·  CG semester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194560" cy="502920"/>
          </a:xfrm>
          <a:prstGeom prst="rect">
            <a:avLst/>
          </a:prstGeom>
          <a:solidFill>
            <a:srgbClr val="1A072C"/>
          </a:solidFill>
          <a:ln w="1270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55CC"/>
                </a:solidFill>
                <a:latin typeface="Consolas"/>
              </a:rPr>
              <a:t>WebGL 1.0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783080"/>
            <a:ext cx="2194560" cy="502920"/>
          </a:xfrm>
          <a:prstGeom prst="rect">
            <a:avLst/>
          </a:prstGeom>
          <a:solidFill>
            <a:srgbClr val="1A072C"/>
          </a:solidFill>
          <a:ln w="1270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830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55CC"/>
                </a:solidFill>
                <a:latin typeface="Consolas"/>
              </a:rPr>
              <a:t>GLSL ES 1.0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1783080"/>
            <a:ext cx="2194560" cy="502920"/>
          </a:xfrm>
          <a:prstGeom prst="rect">
            <a:avLst/>
          </a:prstGeom>
          <a:solidFill>
            <a:srgbClr val="1A072C"/>
          </a:solidFill>
          <a:ln w="12700">
            <a:solidFill>
              <a:srgbClr val="FF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7830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55CC"/>
                </a:solidFill>
                <a:latin typeface="Consolas"/>
              </a:rPr>
              <a:t>WEBGL_depth_texture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1783080"/>
            <a:ext cx="2194560" cy="502920"/>
          </a:xfrm>
          <a:prstGeom prst="rect">
            <a:avLst/>
          </a:prstGeom>
          <a:solidFill>
            <a:srgbClr val="1A072C"/>
          </a:solidFill>
          <a:ln w="12700">
            <a:solidFill>
              <a:srgbClr val="45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7830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5E8C4"/>
                </a:solidFill>
                <a:latin typeface="Consolas"/>
              </a:rPr>
              <a:t>Vanilla JS (ES modules)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68880"/>
            <a:ext cx="2194560" cy="502920"/>
          </a:xfrm>
          <a:prstGeom prst="rect">
            <a:avLst/>
          </a:prstGeom>
          <a:solidFill>
            <a:srgbClr val="1A072C"/>
          </a:solidFill>
          <a:ln w="12700">
            <a:solidFill>
              <a:srgbClr val="45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688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5E8C4"/>
                </a:solidFill>
                <a:latin typeface="Consolas"/>
              </a:rPr>
              <a:t>Classic Web Worker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468880"/>
            <a:ext cx="2194560" cy="502920"/>
          </a:xfrm>
          <a:prstGeom prst="rect">
            <a:avLst/>
          </a:prstGeom>
          <a:solidFill>
            <a:srgbClr val="1A072C"/>
          </a:solidFill>
          <a:ln w="12700">
            <a:solidFill>
              <a:srgbClr val="5F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24688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FD4FF"/>
                </a:solidFill>
                <a:latin typeface="Consolas"/>
              </a:rPr>
              <a:t>Python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2468880"/>
            <a:ext cx="2194560" cy="502920"/>
          </a:xfrm>
          <a:prstGeom prst="rect">
            <a:avLst/>
          </a:prstGeom>
          <a:solidFill>
            <a:srgbClr val="1A072C"/>
          </a:solidFill>
          <a:ln w="12700">
            <a:solidFill>
              <a:srgbClr val="5F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24688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FD4FF"/>
                </a:solidFill>
                <a:latin typeface="Consolas"/>
              </a:rPr>
              <a:t>NumPy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2468880"/>
            <a:ext cx="2194560" cy="502920"/>
          </a:xfrm>
          <a:prstGeom prst="rect">
            <a:avLst/>
          </a:prstGeom>
          <a:solidFill>
            <a:srgbClr val="1A072C"/>
          </a:solidFill>
          <a:ln w="12700">
            <a:solidFill>
              <a:srgbClr val="5F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24688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FD4FF"/>
                </a:solidFill>
                <a:latin typeface="Consolas"/>
              </a:rPr>
              <a:t>python-pptx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23360"/>
            <a:ext cx="11155680" cy="2103120"/>
          </a:xfrm>
          <a:prstGeom prst="rect">
            <a:avLst/>
          </a:prstGeom>
          <a:solidFill>
            <a:srgbClr val="1A072C"/>
          </a:solidFill>
          <a:ln w="9525">
            <a:solidFill>
              <a:srgbClr val="22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51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D266"/>
                </a:solidFill>
                <a:latin typeface="Consolas"/>
              </a:rPr>
              <a:t>CREDITS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663440"/>
            <a:ext cx="105156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Engine forked from guckstift/voxel-game-js (MIT-licensed). Every rendering technique, terrain feature, post-processing pass, and gameplay system added on top is original work for this 7th-semester CG elective.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C8A8D8"/>
                </a:solidFill>
                <a:latin typeface="Calibri"/>
              </a:rPr>
              <a:t>Repository:  github.com/SaqlainSQX/OpenWorldCraft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355080"/>
            <a:ext cx="12188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55CC"/>
                </a:solidFill>
                <a:latin typeface="Consolas"/>
              </a:rPr>
              <a:t>OpenWorldCraft  ·  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